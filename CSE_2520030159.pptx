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9"/>
  </p:notesMasterIdLst>
  <p:handoutMasterIdLst>
    <p:handoutMasterId r:id="rId20"/>
  </p:handoutMasterIdLst>
  <p:sldIdLst>
    <p:sldId id="261" r:id="rId3"/>
    <p:sldId id="314" r:id="rId4"/>
    <p:sldId id="322" r:id="rId5"/>
    <p:sldId id="323" r:id="rId6"/>
    <p:sldId id="266" r:id="rId7"/>
    <p:sldId id="341" r:id="rId8"/>
    <p:sldId id="342" r:id="rId9"/>
    <p:sldId id="343" r:id="rId10"/>
    <p:sldId id="344" r:id="rId11"/>
    <p:sldId id="345" r:id="rId12"/>
    <p:sldId id="346" r:id="rId13"/>
    <p:sldId id="340" r:id="rId14"/>
    <p:sldId id="349" r:id="rId15"/>
    <p:sldId id="347" r:id="rId16"/>
    <p:sldId id="348" r:id="rId17"/>
    <p:sldId id="33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5833"/>
  </p:normalViewPr>
  <p:slideViewPr>
    <p:cSldViewPr snapToGrid="0" snapToObjects="1">
      <p:cViewPr varScale="1">
        <p:scale>
          <a:sx n="63" d="100"/>
          <a:sy n="63" d="100"/>
        </p:scale>
        <p:origin x="840" y="56"/>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10-03-2026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10-03-2026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10-03-2026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10-03-2026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10-03-2026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10-03-2026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10-03-2026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10-03-2026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10-03-2026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10-03-2026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10-03-2026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10-03-2026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10-03-2026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10-03-2026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10-03-2026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10-03-2026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10-03-2026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INSTRUCTIONS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92500" lnSpcReduction="10000"/>
          </a:bodyPr>
          <a:lstStyle/>
          <a:p>
            <a:r>
              <a:rPr lang="en-IN" dirty="0"/>
              <a:t>Use Font size 22 to 28 and Font Style </a:t>
            </a:r>
            <a:r>
              <a:rPr lang="en-IN" b="0" i="0" dirty="0">
                <a:solidFill>
                  <a:srgbClr val="0A0A0A"/>
                </a:solidFill>
                <a:effectLst/>
                <a:latin typeface="Google Sans"/>
              </a:rPr>
              <a:t>Times New Roman </a:t>
            </a:r>
            <a:r>
              <a:rPr lang="en-IN" dirty="0"/>
              <a:t>(body)</a:t>
            </a:r>
          </a:p>
          <a:p>
            <a:r>
              <a:rPr lang="en-IN" dirty="0"/>
              <a:t>Do not change the Template: Heading / Title of the slides</a:t>
            </a:r>
          </a:p>
          <a:p>
            <a:r>
              <a:rPr lang="en-IN" dirty="0"/>
              <a:t>Do not change font style or colours</a:t>
            </a:r>
          </a:p>
          <a:p>
            <a:r>
              <a:rPr lang="en-IN" dirty="0"/>
              <a:t>Do not copy paste paragraphs: use only Bullet Points</a:t>
            </a:r>
          </a:p>
          <a:p>
            <a:r>
              <a:rPr lang="en-IN" dirty="0"/>
              <a:t>Maximum slide Limit is 20 only</a:t>
            </a:r>
          </a:p>
          <a:p>
            <a:r>
              <a:rPr lang="en-IN" dirty="0"/>
              <a:t>As per the number of supervisor allotted adopt slide-2 or slide-3</a:t>
            </a:r>
          </a:p>
          <a:p>
            <a:r>
              <a:rPr lang="en-IN" dirty="0"/>
              <a:t>Please display the required meaningful Content or images or tables </a:t>
            </a:r>
          </a:p>
          <a:p>
            <a:r>
              <a:rPr lang="en-IN" dirty="0"/>
              <a:t>Change the footer accordingly using insert tab then click on header &amp; footer tab and edit it</a:t>
            </a:r>
          </a:p>
          <a:p>
            <a:r>
              <a:rPr lang="en-IN" dirty="0"/>
              <a:t>Save the PPT with Register No, Dept and Review no,  example: </a:t>
            </a:r>
            <a:r>
              <a:rPr lang="en-US" dirty="0"/>
              <a:t>23xxxxxxxxx_CSE</a:t>
            </a:r>
            <a:endParaRPr lang="en-IN"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ADE338F-74DD-D142-8C58-9E4C5E66F6E8}"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28513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6"/>
            <a:ext cx="11543614" cy="902112"/>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DAILY SMART BREAKDOWN</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a:t>
            </a:r>
            <a:r>
              <a:rPr lang="en-US" sz="9600" dirty="0" err="1"/>
              <a:t>Name:B.Hema</a:t>
            </a:r>
            <a:r>
              <a:rPr lang="en-US" sz="9600" dirty="0"/>
              <a:t> Sri</a:t>
            </a:r>
          </a:p>
          <a:p>
            <a:pPr marL="0" indent="0" algn="ctr">
              <a:buNone/>
            </a:pPr>
            <a:r>
              <a:rPr lang="en-US" sz="9600" dirty="0"/>
              <a:t>Student ID: 2520030159</a:t>
            </a:r>
            <a:br>
              <a:rPr lang="en-US" sz="9600" dirty="0"/>
            </a:br>
            <a:r>
              <a:rPr lang="en-US" sz="9600" dirty="0"/>
              <a:t>Cluster:4</a:t>
            </a:r>
          </a:p>
          <a:p>
            <a:pPr marL="0" indent="0" algn="ctr">
              <a:buNone/>
            </a:pPr>
            <a:r>
              <a:rPr lang="en-US" sz="9600" dirty="0"/>
              <a:t>Section:14</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10-03-2026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496264" y="3038371"/>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JAYARAM</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1017016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623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838200" y="518229"/>
            <a:ext cx="10173182" cy="1128009"/>
          </a:xfrm>
        </p:spPr>
        <p:txBody>
          <a:bodyPr>
            <a:normAutofit/>
          </a:bodyPr>
          <a:lstStyle/>
          <a:p>
            <a:pPr algn="ctr"/>
            <a:r>
              <a:rPr lang="en-US" b="1" dirty="0">
                <a:latin typeface="Times New Roman" panose="02020603050405020304" pitchFamily="18" charset="0"/>
                <a:cs typeface="Times New Roman" panose="02020603050405020304" pitchFamily="18" charset="0"/>
              </a:rPr>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Students often struggle to manage their study schedules effectively, especially when large portions of syllabus must be covered within limited time. This project introduces a web-based study planning system designed to transform weekly learning goals into structured daily study tasks. Users can enter multiple topics for a given week, and the system intelligently divides these topics across seven days. Any remaining portions are distributed evenly to maintain a balanced workload each day. By breaking down topics into smaller, manageable sections, the platform promotes consistent learning and better understanding of concepts. The system helps reduce academic stress and prevents last-minute cramming by providing a clear daily learning plan. With a simple and user-friendly interface, this website supports students in developing disciplined study habits and achieving steady academic progress.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71578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723418" y="501650"/>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2005012"/>
            <a:ext cx="10515600" cy="4351338"/>
          </a:xfrm>
        </p:spPr>
        <p:txBody>
          <a:bodyPr>
            <a:normAutofit/>
          </a:bodyPr>
          <a:lstStyle/>
          <a:p>
            <a:r>
              <a:rPr lang="en-US" sz="2700" dirty="0">
                <a:latin typeface="Times New Roman" panose="02020603050405020304" pitchFamily="18" charset="0"/>
                <a:cs typeface="Times New Roman" panose="02020603050405020304" pitchFamily="18" charset="0"/>
              </a:rPr>
              <a:t>Most students plan their studies manually using notebooks or simple to-do lists.</a:t>
            </a:r>
          </a:p>
          <a:p>
            <a:r>
              <a:rPr lang="en-US" sz="2700" dirty="0">
                <a:latin typeface="Times New Roman" panose="02020603050405020304" pitchFamily="18" charset="0"/>
                <a:cs typeface="Times New Roman" panose="02020603050405020304" pitchFamily="18" charset="0"/>
              </a:rPr>
              <a:t>There is no proper structure for dividing large topics into daily tasks.</a:t>
            </a:r>
          </a:p>
          <a:p>
            <a:r>
              <a:rPr lang="en-US" sz="2700" dirty="0">
                <a:latin typeface="Times New Roman" panose="02020603050405020304" pitchFamily="18" charset="0"/>
                <a:cs typeface="Times New Roman" panose="02020603050405020304" pitchFamily="18" charset="0"/>
              </a:rPr>
              <a:t>Students often overestimate or underestimate the time required for each topic.</a:t>
            </a:r>
          </a:p>
          <a:p>
            <a:r>
              <a:rPr lang="en-US" sz="2700" dirty="0">
                <a:latin typeface="Times New Roman" panose="02020603050405020304" pitchFamily="18" charset="0"/>
                <a:cs typeface="Times New Roman" panose="02020603050405020304" pitchFamily="18" charset="0"/>
              </a:rPr>
              <a:t>Study plans are usually not balanced across the week.</a:t>
            </a:r>
          </a:p>
          <a:p>
            <a:r>
              <a:rPr lang="en-US" sz="2700" dirty="0">
                <a:latin typeface="Times New Roman" panose="02020603050405020304" pitchFamily="18" charset="0"/>
                <a:cs typeface="Times New Roman" panose="02020603050405020304" pitchFamily="18" charset="0"/>
              </a:rPr>
              <a:t>This leads to poor time management and irregular study habits</a:t>
            </a:r>
            <a:r>
              <a:rPr lang="en-US" sz="2700" dirty="0"/>
              <a:t>.</a:t>
            </a:r>
          </a:p>
          <a:p>
            <a:pPr marL="457200" lvl="1" indent="-339725" algn="just"/>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518229"/>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a:xfrm>
            <a:off x="1009409" y="1985258"/>
            <a:ext cx="10515600" cy="4351338"/>
          </a:xfrm>
        </p:spPr>
        <p:txBody>
          <a:bodyPr>
            <a:normAutofit/>
          </a:bodyPr>
          <a:lstStyle/>
          <a:p>
            <a:r>
              <a:rPr lang="en-US" dirty="0">
                <a:latin typeface="Times New Roman" panose="02020603050405020304" pitchFamily="18" charset="0"/>
                <a:cs typeface="Times New Roman" panose="02020603050405020304" pitchFamily="18" charset="0"/>
              </a:rPr>
              <a:t>The proposed system is a web-based study planning platform.</a:t>
            </a:r>
          </a:p>
          <a:p>
            <a:r>
              <a:rPr lang="en-US" dirty="0">
                <a:latin typeface="Times New Roman" panose="02020603050405020304" pitchFamily="18" charset="0"/>
                <a:cs typeface="Times New Roman" panose="02020603050405020304" pitchFamily="18" charset="0"/>
              </a:rPr>
              <a:t>Students can enter weekly study topics in the system.</a:t>
            </a:r>
          </a:p>
          <a:p>
            <a:r>
              <a:rPr lang="en-US" dirty="0">
                <a:latin typeface="Times New Roman" panose="02020603050405020304" pitchFamily="18" charset="0"/>
                <a:cs typeface="Times New Roman" panose="02020603050405020304" pitchFamily="18" charset="0"/>
              </a:rPr>
              <a:t>The system automatically divides topics into daily study tasks.</a:t>
            </a:r>
          </a:p>
          <a:p>
            <a:r>
              <a:rPr lang="en-US" dirty="0">
                <a:latin typeface="Times New Roman" panose="02020603050405020304" pitchFamily="18" charset="0"/>
                <a:cs typeface="Times New Roman" panose="02020603050405020304" pitchFamily="18" charset="0"/>
              </a:rPr>
              <a:t>Remaining topics are distributed evenly across the week.</a:t>
            </a:r>
          </a:p>
          <a:p>
            <a:r>
              <a:rPr lang="en-US" dirty="0">
                <a:latin typeface="Times New Roman" panose="02020603050405020304" pitchFamily="18" charset="0"/>
                <a:cs typeface="Times New Roman" panose="02020603050405020304" pitchFamily="18" charset="0"/>
              </a:rPr>
              <a:t>This helps students follow a structured and organized study schedule.</a:t>
            </a:r>
          </a:p>
          <a:p>
            <a:endParaRPr lang="en-US" dirty="0"/>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156210"/>
            <a:ext cx="10173182" cy="1128009"/>
          </a:xfrm>
        </p:spPr>
        <p:txBody>
          <a:bodyPr/>
          <a:lstStyle/>
          <a:p>
            <a:pPr algn="ctr"/>
            <a:r>
              <a:rPr lang="en-US" b="1" dirty="0"/>
              <a:t>System Architecture</a:t>
            </a:r>
          </a:p>
        </p:txBody>
      </p:sp>
      <p:pic>
        <p:nvPicPr>
          <p:cNvPr id="3" name="Content Placeholder 2">
            <a:extLst>
              <a:ext uri="{FF2B5EF4-FFF2-40B4-BE49-F238E27FC236}">
                <a16:creationId xmlns:a16="http://schemas.microsoft.com/office/drawing/2014/main" id="{EE52644B-5815-7CBD-9D86-81426F452AE3}"/>
              </a:ext>
            </a:extLst>
          </p:cNvPr>
          <p:cNvPicPr>
            <a:picLocks noGrp="1" noChangeAspect="1"/>
          </p:cNvPicPr>
          <p:nvPr>
            <p:ph idx="1"/>
          </p:nvPr>
        </p:nvPicPr>
        <p:blipFill>
          <a:blip r:embed="rId2"/>
          <a:stretch>
            <a:fillRect/>
          </a:stretch>
        </p:blipFill>
        <p:spPr>
          <a:xfrm>
            <a:off x="1180618" y="1123038"/>
            <a:ext cx="9456902" cy="5233312"/>
          </a:xfrm>
          <a:prstGeom prst="rect">
            <a:avLst/>
          </a:prstGeom>
        </p:spPr>
      </p:pic>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2" name="Content Placeholder 1">
            <a:extLst>
              <a:ext uri="{FF2B5EF4-FFF2-40B4-BE49-F238E27FC236}">
                <a16:creationId xmlns:a16="http://schemas.microsoft.com/office/drawing/2014/main" id="{86E8CD6F-52E5-EBE0-FA2C-3F44A153F27D}"/>
              </a:ext>
            </a:extLst>
          </p:cNvPr>
          <p:cNvSpPr>
            <a:spLocks noGrp="1" noChangeArrowheads="1"/>
          </p:cNvSpPr>
          <p:nvPr>
            <p:ph idx="1"/>
          </p:nvPr>
        </p:nvSpPr>
        <p:spPr bwMode="auto">
          <a:xfrm>
            <a:off x="838200" y="1429815"/>
            <a:ext cx="11069548" cy="497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Interface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a simple interface where students can enter weekly study topics and interact with the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Topic Input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Allows users to add, edit, or delete study topics they want to complete during the week.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Study Plan Generation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Automatically divides the entered topics into daily study tasks across seven days.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Schedule Management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balanced distribution of workload and organizes the weekly study schedule.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Progress Tracking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Allows students to mark completed tasks and track their study progress.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Stores user data, study topics, and generated study plans securely.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469418" y="499863"/>
            <a:ext cx="10173182" cy="1128009"/>
          </a:xfrm>
        </p:spPr>
        <p:txBody>
          <a:bodyPr/>
          <a:lstStyle/>
          <a:p>
            <a:pPr algn="ctr"/>
            <a:r>
              <a:rPr lang="en-US" b="1" dirty="0"/>
              <a:t>Objectives</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2" name="Content Placeholder 1">
            <a:extLst>
              <a:ext uri="{FF2B5EF4-FFF2-40B4-BE49-F238E27FC236}">
                <a16:creationId xmlns:a16="http://schemas.microsoft.com/office/drawing/2014/main" id="{E770AD6C-F3B6-30F1-C610-4C4D3DFCCEE6}"/>
              </a:ext>
            </a:extLst>
          </p:cNvPr>
          <p:cNvSpPr>
            <a:spLocks noGrp="1" noChangeArrowheads="1"/>
          </p:cNvSpPr>
          <p:nvPr>
            <p:ph idx="1"/>
          </p:nvPr>
        </p:nvSpPr>
        <p:spPr bwMode="auto">
          <a:xfrm>
            <a:off x="838200" y="1762611"/>
            <a:ext cx="10173182" cy="4324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web-based study planning system that helps students organize their weekly study schedule.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allow users to enter study topics and automatically generate a daily study plan.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divide large topics into smaller, manageable tasks for better understanding.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ensure balanced distribution of study workload across the week.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help students manage time effectively and maintain consistent study habits.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academic stress and avoid last-minute exam preparation.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a simple and user-friendly interface for easy study planning.</a:t>
            </a:r>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214847" y="652801"/>
            <a:ext cx="10173182" cy="1128009"/>
          </a:xfrm>
        </p:spPr>
        <p:txBody>
          <a:bodyPr/>
          <a:lstStyle/>
          <a:p>
            <a:pPr algn="ctr"/>
            <a:r>
              <a:rPr lang="en-US" b="1" dirty="0"/>
              <a:t>Co’s Attainments - FWD</a:t>
            </a:r>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12" name="Content Placeholder 11">
            <a:extLst>
              <a:ext uri="{FF2B5EF4-FFF2-40B4-BE49-F238E27FC236}">
                <a16:creationId xmlns:a16="http://schemas.microsoft.com/office/drawing/2014/main" id="{B1FC808F-E9E5-59EC-E124-1111DE3EAA2B}"/>
              </a:ext>
            </a:extLst>
          </p:cNvPr>
          <p:cNvSpPr>
            <a:spLocks noGrp="1"/>
          </p:cNvSpPr>
          <p:nvPr>
            <p:ph idx="1"/>
          </p:nvPr>
        </p:nvSpPr>
        <p:spPr>
          <a:xfrm>
            <a:off x="1300537" y="2275101"/>
            <a:ext cx="10515600" cy="4351338"/>
          </a:xfrm>
        </p:spPr>
        <p:txBody>
          <a:bodyPr>
            <a:normAutofit/>
          </a:bodyPr>
          <a:lstStyle/>
          <a:p>
            <a:r>
              <a:rPr lang="en-US" sz="2700" dirty="0">
                <a:latin typeface="Times New Roman" panose="02020603050405020304" pitchFamily="18" charset="0"/>
                <a:cs typeface="Times New Roman" panose="02020603050405020304" pitchFamily="18" charset="0"/>
              </a:rPr>
              <a:t>CO1: Understanding HTML structure and CSS styling.</a:t>
            </a:r>
          </a:p>
          <a:p>
            <a:r>
              <a:rPr lang="en-US" sz="2700" dirty="0">
                <a:latin typeface="Times New Roman" panose="02020603050405020304" pitchFamily="18" charset="0"/>
                <a:cs typeface="Times New Roman" panose="02020603050405020304" pitchFamily="18" charset="0"/>
              </a:rPr>
              <a:t>CO2: Designing responsive layouts using CSS.</a:t>
            </a:r>
          </a:p>
          <a:p>
            <a:r>
              <a:rPr lang="en-US" sz="2700" dirty="0">
                <a:latin typeface="Times New Roman" panose="02020603050405020304" pitchFamily="18" charset="0"/>
                <a:cs typeface="Times New Roman" panose="02020603050405020304" pitchFamily="18" charset="0"/>
              </a:rPr>
              <a:t>CO3: Implementing JavaScript logic and functions.</a:t>
            </a:r>
          </a:p>
          <a:p>
            <a:r>
              <a:rPr lang="en-US" sz="2700" dirty="0">
                <a:latin typeface="Times New Roman" panose="02020603050405020304" pitchFamily="18" charset="0"/>
                <a:cs typeface="Times New Roman" panose="02020603050405020304" pitchFamily="18" charset="0"/>
              </a:rPr>
              <a:t>CO4: Using DOM manipulation for dynamic content.</a:t>
            </a:r>
          </a:p>
          <a:p>
            <a:r>
              <a:rPr lang="en-US" sz="2700" dirty="0">
                <a:latin typeface="Times New Roman" panose="02020603050405020304" pitchFamily="18" charset="0"/>
                <a:cs typeface="Times New Roman" panose="02020603050405020304" pitchFamily="18" charset="0"/>
              </a:rPr>
              <a:t>CO5: Building complete interactive web applications</a:t>
            </a:r>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p:txBody>
          <a:bodyPr>
            <a:normAutofit/>
          </a:bodyPr>
          <a:lstStyle/>
          <a:p>
            <a:pPr marL="0" indent="0">
              <a:buNone/>
            </a:pPr>
            <a:endParaRPr lang="en-US"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344365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a:xfrm>
            <a:off x="2025869" y="64621"/>
            <a:ext cx="10515600" cy="1325563"/>
          </a:xfrm>
        </p:spPr>
        <p:txBody>
          <a:bodyPr/>
          <a:lstStyle/>
          <a:p>
            <a:r>
              <a:rPr lang="en-US" dirty="0"/>
              <a:t>Screenshots for FWD</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18" name="Content Placeholder 17">
            <a:extLst>
              <a:ext uri="{FF2B5EF4-FFF2-40B4-BE49-F238E27FC236}">
                <a16:creationId xmlns:a16="http://schemas.microsoft.com/office/drawing/2014/main" id="{3DC6B77B-E97C-E2B3-5E61-C262FA4685FB}"/>
              </a:ext>
            </a:extLst>
          </p:cNvPr>
          <p:cNvPicPr>
            <a:picLocks noGrp="1" noChangeAspect="1"/>
          </p:cNvPicPr>
          <p:nvPr>
            <p:ph idx="1"/>
          </p:nvPr>
        </p:nvPicPr>
        <p:blipFill>
          <a:blip r:embed="rId2"/>
          <a:stretch>
            <a:fillRect/>
          </a:stretch>
        </p:blipFill>
        <p:spPr>
          <a:xfrm>
            <a:off x="472966" y="1438524"/>
            <a:ext cx="6063505" cy="1325563"/>
          </a:xfrm>
          <a:prstGeom prst="rect">
            <a:avLst/>
          </a:prstGeom>
        </p:spPr>
      </p:pic>
      <p:pic>
        <p:nvPicPr>
          <p:cNvPr id="20" name="Picture 19">
            <a:extLst>
              <a:ext uri="{FF2B5EF4-FFF2-40B4-BE49-F238E27FC236}">
                <a16:creationId xmlns:a16="http://schemas.microsoft.com/office/drawing/2014/main" id="{8965DF99-9800-2E9E-901A-8D9C64B7DE36}"/>
              </a:ext>
            </a:extLst>
          </p:cNvPr>
          <p:cNvPicPr>
            <a:picLocks noChangeAspect="1"/>
          </p:cNvPicPr>
          <p:nvPr/>
        </p:nvPicPr>
        <p:blipFill>
          <a:blip r:embed="rId3"/>
          <a:stretch>
            <a:fillRect/>
          </a:stretch>
        </p:blipFill>
        <p:spPr>
          <a:xfrm>
            <a:off x="472966" y="2885046"/>
            <a:ext cx="7420303" cy="1694400"/>
          </a:xfrm>
          <a:prstGeom prst="rect">
            <a:avLst/>
          </a:prstGeom>
        </p:spPr>
      </p:pic>
      <p:pic>
        <p:nvPicPr>
          <p:cNvPr id="22" name="Picture 21">
            <a:extLst>
              <a:ext uri="{FF2B5EF4-FFF2-40B4-BE49-F238E27FC236}">
                <a16:creationId xmlns:a16="http://schemas.microsoft.com/office/drawing/2014/main" id="{CBD2B59E-B7CB-C0A7-3621-B150DA3A2C67}"/>
              </a:ext>
            </a:extLst>
          </p:cNvPr>
          <p:cNvPicPr>
            <a:picLocks noChangeAspect="1"/>
          </p:cNvPicPr>
          <p:nvPr/>
        </p:nvPicPr>
        <p:blipFill>
          <a:blip r:embed="rId4"/>
          <a:stretch>
            <a:fillRect/>
          </a:stretch>
        </p:blipFill>
        <p:spPr>
          <a:xfrm>
            <a:off x="472966" y="4700406"/>
            <a:ext cx="7546297" cy="2021069"/>
          </a:xfrm>
          <a:prstGeom prst="rect">
            <a:avLst/>
          </a:prstGeom>
        </p:spPr>
      </p:pic>
      <p:pic>
        <p:nvPicPr>
          <p:cNvPr id="24" name="Picture 23">
            <a:extLst>
              <a:ext uri="{FF2B5EF4-FFF2-40B4-BE49-F238E27FC236}">
                <a16:creationId xmlns:a16="http://schemas.microsoft.com/office/drawing/2014/main" id="{CD89B5FB-568E-349B-D5BD-455B7D24BE63}"/>
              </a:ext>
            </a:extLst>
          </p:cNvPr>
          <p:cNvPicPr>
            <a:picLocks noChangeAspect="1"/>
          </p:cNvPicPr>
          <p:nvPr/>
        </p:nvPicPr>
        <p:blipFill>
          <a:blip r:embed="rId5"/>
          <a:stretch>
            <a:fillRect/>
          </a:stretch>
        </p:blipFill>
        <p:spPr>
          <a:xfrm>
            <a:off x="8350469" y="4574677"/>
            <a:ext cx="3437951" cy="2146798"/>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A3ADC-233C-7536-F55E-217A13EAEEA4}"/>
              </a:ext>
            </a:extLst>
          </p:cNvPr>
          <p:cNvSpPr>
            <a:spLocks noGrp="1"/>
          </p:cNvSpPr>
          <p:nvPr>
            <p:ph type="title"/>
          </p:nvPr>
        </p:nvSpPr>
        <p:spPr>
          <a:xfrm>
            <a:off x="1109609" y="365125"/>
            <a:ext cx="10244191" cy="1325563"/>
          </a:xfrm>
        </p:spPr>
        <p:txBody>
          <a:bodyPr/>
          <a:lstStyle/>
          <a:p>
            <a:r>
              <a:rPr lang="en-US" dirty="0"/>
              <a:t>Screenshots for DSA</a:t>
            </a:r>
          </a:p>
        </p:txBody>
      </p:sp>
      <p:sp>
        <p:nvSpPr>
          <p:cNvPr id="3" name="Content Placeholder 2">
            <a:extLst>
              <a:ext uri="{FF2B5EF4-FFF2-40B4-BE49-F238E27FC236}">
                <a16:creationId xmlns:a16="http://schemas.microsoft.com/office/drawing/2014/main" id="{AD7CD536-B80A-7448-2342-72B4B30BEFAA}"/>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A7941F59-0E91-3DDB-3342-1C7565A5A19E}"/>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362A78B4-961D-17FC-E4C7-C89A4C142CB0}"/>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1DB75F01-69ED-AA97-5837-6A0A3DA1CDEF}"/>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1616920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009409" y="517525"/>
            <a:ext cx="10173182" cy="1128009"/>
          </a:xfrm>
        </p:spPr>
        <p:txBody>
          <a:bodyPr/>
          <a:lstStyle/>
          <a:p>
            <a:pPr algn="ctr"/>
            <a:r>
              <a:rPr lang="en-US" b="1" dirty="0"/>
              <a:t>Conclusion</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14</a:t>
            </a:fld>
            <a:endParaRPr lang="en-US"/>
          </a:p>
        </p:txBody>
      </p:sp>
      <p:sp>
        <p:nvSpPr>
          <p:cNvPr id="2" name="Content Placeholder 1">
            <a:extLst>
              <a:ext uri="{FF2B5EF4-FFF2-40B4-BE49-F238E27FC236}">
                <a16:creationId xmlns:a16="http://schemas.microsoft.com/office/drawing/2014/main" id="{76FDA435-53A8-4ABE-53FA-D9594511E46F}"/>
              </a:ext>
            </a:extLst>
          </p:cNvPr>
          <p:cNvSpPr>
            <a:spLocks noGrp="1" noChangeArrowheads="1"/>
          </p:cNvSpPr>
          <p:nvPr>
            <p:ph idx="1"/>
          </p:nvPr>
        </p:nvSpPr>
        <p:spPr bwMode="auto">
          <a:xfrm>
            <a:off x="690880" y="2254280"/>
            <a:ext cx="1095756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Study Planning System helps students organize their weekly study schedule effectively.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converts weekly topics into structured daily study tasks.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ensures balanced distribution of workload throughout the week.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encourages consistent learning and better time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platform helps reduce academic stress and prevents last-minute exam preparation.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system supports students in developing disciplined study habits and improving academic performance.</a:t>
            </a:r>
          </a:p>
        </p:txBody>
      </p:sp>
    </p:spTree>
    <p:extLst>
      <p:ext uri="{BB962C8B-B14F-4D97-AF65-F5344CB8AC3E}">
        <p14:creationId xmlns:p14="http://schemas.microsoft.com/office/powerpoint/2010/main" val="2858912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a:xfrm>
            <a:off x="1891862" y="131955"/>
            <a:ext cx="10515600" cy="1325563"/>
          </a:xfrm>
        </p:spPr>
        <p:txBody>
          <a:bodyPr/>
          <a:lstStyle/>
          <a:p>
            <a:r>
              <a:rPr lang="en-US" dirty="0"/>
              <a:t>Geo- Tag Photos</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15</a:t>
            </a:fld>
            <a:endParaRPr lang="en-US"/>
          </a:p>
        </p:txBody>
      </p:sp>
      <p:pic>
        <p:nvPicPr>
          <p:cNvPr id="10" name="Content Placeholder 9">
            <a:extLst>
              <a:ext uri="{FF2B5EF4-FFF2-40B4-BE49-F238E27FC236}">
                <a16:creationId xmlns:a16="http://schemas.microsoft.com/office/drawing/2014/main" id="{0B0980B6-1B1E-263D-C6C8-EC5B8D49555B}"/>
              </a:ext>
            </a:extLst>
          </p:cNvPr>
          <p:cNvPicPr>
            <a:picLocks noGrp="1" noChangeAspect="1"/>
          </p:cNvPicPr>
          <p:nvPr>
            <p:ph idx="1"/>
          </p:nvPr>
        </p:nvPicPr>
        <p:blipFill>
          <a:blip r:embed="rId2"/>
          <a:stretch>
            <a:fillRect/>
          </a:stretch>
        </p:blipFill>
        <p:spPr>
          <a:xfrm>
            <a:off x="4038600" y="1457518"/>
            <a:ext cx="4360524" cy="2452795"/>
          </a:xfrm>
          <a:prstGeom prst="rect">
            <a:avLst/>
          </a:prstGeom>
        </p:spPr>
      </p:pic>
      <p:pic>
        <p:nvPicPr>
          <p:cNvPr id="13" name="Picture 12">
            <a:extLst>
              <a:ext uri="{FF2B5EF4-FFF2-40B4-BE49-F238E27FC236}">
                <a16:creationId xmlns:a16="http://schemas.microsoft.com/office/drawing/2014/main" id="{7803E62D-69F6-DAFF-DD23-E7584EA02E08}"/>
              </a:ext>
            </a:extLst>
          </p:cNvPr>
          <p:cNvPicPr>
            <a:picLocks noChangeAspect="1"/>
          </p:cNvPicPr>
          <p:nvPr/>
        </p:nvPicPr>
        <p:blipFill>
          <a:blip r:embed="rId3"/>
          <a:stretch>
            <a:fillRect/>
          </a:stretch>
        </p:blipFill>
        <p:spPr>
          <a:xfrm>
            <a:off x="7149662" y="4174084"/>
            <a:ext cx="4204138" cy="2364828"/>
          </a:xfrm>
          <a:prstGeom prst="rect">
            <a:avLst/>
          </a:prstGeom>
        </p:spPr>
      </p:pic>
      <p:pic>
        <p:nvPicPr>
          <p:cNvPr id="15" name="Picture 14">
            <a:extLst>
              <a:ext uri="{FF2B5EF4-FFF2-40B4-BE49-F238E27FC236}">
                <a16:creationId xmlns:a16="http://schemas.microsoft.com/office/drawing/2014/main" id="{C37596B4-E2A5-B63A-1280-3789721B3A09}"/>
              </a:ext>
            </a:extLst>
          </p:cNvPr>
          <p:cNvPicPr>
            <a:picLocks noChangeAspect="1"/>
          </p:cNvPicPr>
          <p:nvPr/>
        </p:nvPicPr>
        <p:blipFill>
          <a:blip r:embed="rId4"/>
          <a:stretch>
            <a:fillRect/>
          </a:stretch>
        </p:blipFill>
        <p:spPr>
          <a:xfrm>
            <a:off x="921015" y="4231070"/>
            <a:ext cx="4277710" cy="2406212"/>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16</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4725</TotalTime>
  <Words>865</Words>
  <Application>Microsoft Office PowerPoint</Application>
  <PresentationFormat>Widescreen</PresentationFormat>
  <Paragraphs>139</Paragraphs>
  <Slides>16</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Arial</vt:lpstr>
      <vt:lpstr>Calibri</vt:lpstr>
      <vt:lpstr>Calibri Light</vt:lpstr>
      <vt:lpstr>Google Sans</vt:lpstr>
      <vt:lpstr>Times New Roman</vt:lpstr>
      <vt:lpstr>Office Theme</vt:lpstr>
      <vt:lpstr>Custom Design</vt:lpstr>
      <vt:lpstr>INSTRUCTIONS</vt:lpstr>
      <vt:lpstr>Title: DAILY SMART BREAKDOWN</vt:lpstr>
      <vt:lpstr>OUTLINE</vt:lpstr>
      <vt:lpstr>Abstract</vt:lpstr>
      <vt:lpstr>Existing System </vt:lpstr>
      <vt:lpstr>Proposed System</vt:lpstr>
      <vt:lpstr>System Architecture</vt:lpstr>
      <vt:lpstr>Project Modules</vt:lpstr>
      <vt:lpstr>Objectives</vt:lpstr>
      <vt:lpstr>Co’s Attainments - FWD</vt:lpstr>
      <vt:lpstr>Co’s Attainments - DSA</vt:lpstr>
      <vt:lpstr>Screenshots for FWD</vt:lpstr>
      <vt:lpstr>Screenshots for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hemasri reddy</cp:lastModifiedBy>
  <cp:revision>52</cp:revision>
  <dcterms:created xsi:type="dcterms:W3CDTF">2022-05-20T10:20:31Z</dcterms:created>
  <dcterms:modified xsi:type="dcterms:W3CDTF">2026-03-10T03:56:11Z</dcterms:modified>
</cp:coreProperties>
</file>